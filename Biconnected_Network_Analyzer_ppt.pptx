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Kavati" userId="dab806dfe87fc98f" providerId="LiveId" clId="{3C719222-1E54-4A22-AEB6-146798ADF305}"/>
    <pc:docChg chg="modSld">
      <pc:chgData name="Varun Kavati" userId="dab806dfe87fc98f" providerId="LiveId" clId="{3C719222-1E54-4A22-AEB6-146798ADF305}" dt="2026-10-03T09:08:06.362" v="154" actId="1036"/>
      <pc:docMkLst>
        <pc:docMk/>
      </pc:docMkLst>
      <pc:sldChg chg="modSp mod">
        <pc:chgData name="Varun Kavati" userId="dab806dfe87fc98f" providerId="LiveId" clId="{3C719222-1E54-4A22-AEB6-146798ADF305}" dt="2026-10-03T06:56:08.604" v="60" actId="20577"/>
        <pc:sldMkLst>
          <pc:docMk/>
          <pc:sldMk cId="0" sldId="256"/>
        </pc:sldMkLst>
        <pc:spChg chg="mod">
          <ac:chgData name="Varun Kavati" userId="dab806dfe87fc98f" providerId="LiveId" clId="{3C719222-1E54-4A22-AEB6-146798ADF305}" dt="2026-10-03T06:56:08.604" v="60" actId="20577"/>
          <ac:spMkLst>
            <pc:docMk/>
            <pc:sldMk cId="0" sldId="256"/>
            <ac:spMk id="11" creationId="{00000000-0000-0000-0000-000000000000}"/>
          </ac:spMkLst>
        </pc:spChg>
      </pc:sldChg>
      <pc:sldChg chg="addSp modSp mod">
        <pc:chgData name="Varun Kavati" userId="dab806dfe87fc98f" providerId="LiveId" clId="{3C719222-1E54-4A22-AEB6-146798ADF305}" dt="2026-10-03T09:08:06.362" v="154" actId="1036"/>
        <pc:sldMkLst>
          <pc:docMk/>
          <pc:sldMk cId="1402260193" sldId="264"/>
        </pc:sldMkLst>
        <pc:spChg chg="mod">
          <ac:chgData name="Varun Kavati" userId="dab806dfe87fc98f" providerId="LiveId" clId="{3C719222-1E54-4A22-AEB6-146798ADF305}" dt="2026-10-03T09:08:01.918" v="140" actId="1036"/>
          <ac:spMkLst>
            <pc:docMk/>
            <pc:sldMk cId="1402260193" sldId="264"/>
            <ac:spMk id="2" creationId="{D48E9727-35D3-AFA2-D562-8A414BE5780E}"/>
          </ac:spMkLst>
        </pc:spChg>
        <pc:spChg chg="mod">
          <ac:chgData name="Varun Kavati" userId="dab806dfe87fc98f" providerId="LiveId" clId="{3C719222-1E54-4A22-AEB6-146798ADF305}" dt="2026-10-03T09:08:06.362" v="154" actId="1036"/>
          <ac:spMkLst>
            <pc:docMk/>
            <pc:sldMk cId="1402260193" sldId="264"/>
            <ac:spMk id="3" creationId="{B9B8343B-6CEC-8048-49AE-94B6DB6CB389}"/>
          </ac:spMkLst>
        </pc:spChg>
        <pc:picChg chg="add mod">
          <ac:chgData name="Varun Kavati" userId="dab806dfe87fc98f" providerId="LiveId" clId="{3C719222-1E54-4A22-AEB6-146798ADF305}" dt="2026-10-03T09:07:53.006" v="117" actId="1035"/>
          <ac:picMkLst>
            <pc:docMk/>
            <pc:sldMk cId="1402260193" sldId="264"/>
            <ac:picMk id="5" creationId="{58378A47-9BB7-4AE7-4EF6-9EBC9E40EE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E9727-35D3-AFA2-D562-8A414BE57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449" y="1986118"/>
            <a:ext cx="7772400" cy="1245637"/>
          </a:xfrm>
        </p:spPr>
        <p:txBody>
          <a:bodyPr>
            <a:normAutofit fontScale="90000"/>
          </a:bodyPr>
          <a:lstStyle/>
          <a:p>
            <a:r>
              <a:rPr lang="en-IN" dirty="0"/>
              <a:t>BICONNECTED NETWORK ANALYZER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B8343B-6CEC-8048-49AE-94B6DB6CB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7380" y="2848045"/>
            <a:ext cx="8014995" cy="2211355"/>
          </a:xfrm>
        </p:spPr>
        <p:txBody>
          <a:bodyPr>
            <a:normAutofit fontScale="92500"/>
          </a:bodyPr>
          <a:lstStyle/>
          <a:p>
            <a:r>
              <a:rPr lang="en-IN" dirty="0"/>
              <a:t>25MVCSMR0128 –</a:t>
            </a:r>
            <a:r>
              <a:rPr lang="en-IN" dirty="0" err="1"/>
              <a:t>Kavati</a:t>
            </a:r>
            <a:r>
              <a:rPr lang="en-IN" dirty="0"/>
              <a:t> Varun</a:t>
            </a:r>
          </a:p>
          <a:p>
            <a:r>
              <a:rPr lang="en-IN" dirty="0"/>
              <a:t>                25MVCSMR0145 – </a:t>
            </a:r>
            <a:r>
              <a:rPr lang="en-IN" dirty="0" err="1"/>
              <a:t>M.V.Yaswanth</a:t>
            </a:r>
            <a:r>
              <a:rPr lang="en-IN" dirty="0"/>
              <a:t> Reddy</a:t>
            </a:r>
          </a:p>
          <a:p>
            <a:r>
              <a:rPr lang="en-IN" dirty="0"/>
              <a:t>  25MVCSMR0147 –</a:t>
            </a:r>
            <a:r>
              <a:rPr lang="en-IN" dirty="0" err="1"/>
              <a:t>M.Keshavulu</a:t>
            </a:r>
            <a:endParaRPr lang="en-IN" dirty="0"/>
          </a:p>
          <a:p>
            <a:r>
              <a:rPr lang="en-IN" dirty="0"/>
              <a:t>25MVCSMR0175 –</a:t>
            </a:r>
            <a:r>
              <a:rPr lang="en-IN" dirty="0" err="1"/>
              <a:t>S.Abhinay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78A47-9BB7-4AE7-4EF6-9EBC9E40E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45"/>
            <a:ext cx="121920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60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64008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BFF"/>
                </a:solidFill>
                <a:latin typeface="Aptos Display"/>
              </a:defRPr>
            </a:pPr>
            <a:r>
              <a:rPr dirty="0"/>
              <a:t>BICONNECTED NETWORK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7ABC2"/>
                </a:solidFill>
                <a:latin typeface="Aptos"/>
              </a:defRPr>
            </a:pPr>
            <a:r>
              <a:t>Hackathon Project • Graph-Based Network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7ABC2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6583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8FBFF"/>
                </a:solidFill>
                <a:latin typeface="Aptos Display"/>
              </a:defRPr>
            </a:pPr>
            <a:r>
              <a:t>BICONNECTED</a:t>
            </a:r>
            <a:br/>
            <a:r>
              <a:t>NETWORK ANALYZER</a:t>
            </a:r>
          </a:p>
          <a:p>
            <a:pPr>
              <a:defRPr sz="1500">
                <a:solidFill>
                  <a:srgbClr val="2DCFDC"/>
                </a:solidFill>
                <a:latin typeface="Aptos"/>
              </a:defRPr>
            </a:pPr>
            <a:r>
              <a:t>An intelligent graph-based tool that detects critical network nodes and analyzes network reliability using biconnectivity algorithms.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3246120" cy="15544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64008" cy="1554480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355848"/>
            <a:ext cx="28986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BFF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30752"/>
            <a:ext cx="2880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Hackathon </a:t>
            </a:r>
            <a:r>
              <a:rPr dirty="0"/>
              <a:t>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246120"/>
            <a:ext cx="3246120" cy="15544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3246120"/>
            <a:ext cx="64008" cy="1554480"/>
          </a:xfrm>
          <a:prstGeom prst="rect">
            <a:avLst/>
          </a:prstGeom>
          <a:solidFill>
            <a:srgbClr val="39B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3355848"/>
            <a:ext cx="28986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BFF"/>
                </a:solidFill>
                <a:latin typeface="Aptos"/>
              </a:defRPr>
            </a:pPr>
            <a:r>
              <a:t>PROBLEM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730752"/>
            <a:ext cx="28803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Computer Networks</a:t>
            </a:r>
            <a:br/>
            <a:r>
              <a:t>Graph Theory</a:t>
            </a:r>
            <a:br/>
            <a:r>
              <a:t>Network Reliability</a:t>
            </a:r>
            <a:br/>
            <a:r>
              <a:t>Fault-Tolerant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246120"/>
            <a:ext cx="3246120" cy="15544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3246120"/>
            <a:ext cx="64008" cy="1554480"/>
          </a:xfrm>
          <a:prstGeom prst="rect">
            <a:avLst/>
          </a:prstGeom>
          <a:solidFill>
            <a:srgbClr val="F5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59" y="3355848"/>
            <a:ext cx="28986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BFF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3730752"/>
            <a:ext cx="28803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AE7F5"/>
                </a:solidFill>
                <a:latin typeface="Aptos"/>
              </a:defRPr>
            </a:pPr>
            <a:r>
              <a:t>Identify vulnerable points in a network before a failure occurs.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595360" y="1143000"/>
            <a:ext cx="1280160" cy="411480"/>
          </a:xfrm>
          <a:prstGeom prst="line">
            <a:avLst/>
          </a:prstGeom>
          <a:ln w="254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95360" y="1554480"/>
            <a:ext cx="1280160" cy="731520"/>
          </a:xfrm>
          <a:prstGeom prst="line">
            <a:avLst/>
          </a:prstGeom>
          <a:ln w="254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875520" y="1143000"/>
            <a:ext cx="1097280" cy="548640"/>
          </a:xfrm>
          <a:prstGeom prst="line">
            <a:avLst/>
          </a:prstGeom>
          <a:ln w="254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875520" y="1691640"/>
            <a:ext cx="1097280" cy="594360"/>
          </a:xfrm>
          <a:prstGeom prst="line">
            <a:avLst/>
          </a:prstGeom>
          <a:ln w="254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95360" y="1554480"/>
            <a:ext cx="457200" cy="1188720"/>
          </a:xfrm>
          <a:prstGeom prst="line">
            <a:avLst/>
          </a:prstGeom>
          <a:ln w="254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052560" y="2286000"/>
            <a:ext cx="822960" cy="457200"/>
          </a:xfrm>
          <a:prstGeom prst="line">
            <a:avLst/>
          </a:prstGeom>
          <a:ln w="254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348472" y="1307592"/>
            <a:ext cx="493776" cy="493776"/>
          </a:xfrm>
          <a:prstGeom prst="ellipse">
            <a:avLst/>
          </a:prstGeom>
          <a:solidFill>
            <a:srgbClr val="2B7EDA"/>
          </a:solidFill>
          <a:ln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9628632" y="896112"/>
            <a:ext cx="493776" cy="493776"/>
          </a:xfrm>
          <a:prstGeom prst="ellipse">
            <a:avLst/>
          </a:prstGeom>
          <a:solidFill>
            <a:srgbClr val="2DCFDC"/>
          </a:solidFill>
          <a:ln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9628632" y="2039112"/>
            <a:ext cx="493776" cy="493776"/>
          </a:xfrm>
          <a:prstGeom prst="ellipse">
            <a:avLst/>
          </a:prstGeom>
          <a:solidFill>
            <a:srgbClr val="2B7EDA"/>
          </a:solidFill>
          <a:ln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9" name="Oval 28"/>
          <p:cNvSpPr/>
          <p:nvPr/>
        </p:nvSpPr>
        <p:spPr>
          <a:xfrm>
            <a:off x="10725912" y="1444752"/>
            <a:ext cx="493776" cy="493776"/>
          </a:xfrm>
          <a:prstGeom prst="ellipse">
            <a:avLst/>
          </a:prstGeom>
          <a:solidFill>
            <a:srgbClr val="2DCFDC"/>
          </a:solidFill>
          <a:ln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8805672" y="2496312"/>
            <a:ext cx="493776" cy="493776"/>
          </a:xfrm>
          <a:prstGeom prst="ellipse">
            <a:avLst/>
          </a:prstGeom>
          <a:solidFill>
            <a:srgbClr val="39B984"/>
          </a:solidFill>
          <a:ln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64008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BFF"/>
                </a:solidFill>
                <a:latin typeface="Aptos Display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7ABC2"/>
                </a:solidFill>
                <a:latin typeface="Aptos"/>
              </a:defRPr>
            </a:pPr>
            <a:r>
              <a:t>Real-world problem, importance, and key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7ABC2"/>
                </a:solidFill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29000" cy="164592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4008" cy="1645920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35607"/>
            <a:ext cx="30815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BFF"/>
                </a:solidFill>
                <a:latin typeface="Aptos"/>
              </a:defRPr>
            </a:pPr>
            <a:r>
              <a:t>REAL-WORLD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3063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AE7F5"/>
                </a:solidFill>
                <a:latin typeface="Aptos"/>
              </a:defRPr>
            </a:pPr>
            <a:r>
              <a:t>Modern networks contain many interconnected devices. Failure of a critical node can disconnect multiple parts of the network.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46120"/>
            <a:ext cx="3429000" cy="192024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64008" cy="192024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355848"/>
            <a:ext cx="30815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BFF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0752"/>
            <a:ext cx="30632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• Network failures can interrupt communication.</a:t>
            </a:r>
            <a:br/>
            <a:r>
              <a:t>• Critical nodes may not be obvious.</a:t>
            </a:r>
            <a:br/>
            <a:r>
              <a:t>• Manual analysis is difficult for large networks.</a:t>
            </a:r>
            <a:br/>
            <a:r>
              <a:t>• Infrastructure needs fault tolerance.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325880"/>
            <a:ext cx="6675120" cy="324612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60" y="1325880"/>
            <a:ext cx="64008" cy="3246120"/>
          </a:xfrm>
          <a:prstGeom prst="rect">
            <a:avLst/>
          </a:prstGeom>
          <a:solidFill>
            <a:srgbClr val="F5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1435607"/>
            <a:ext cx="63276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8FBFF"/>
                </a:solidFill>
                <a:latin typeface="Aptos"/>
              </a:defRPr>
            </a:pPr>
            <a:r>
              <a:t>KEY CHALLENGES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810512"/>
            <a:ext cx="6309359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DAE7F5"/>
                </a:solidFill>
                <a:latin typeface="Aptos"/>
              </a:defRPr>
            </a:pPr>
            <a:r>
              <a:t>🔹 Detecting critical nodes</a:t>
            </a:r>
            <a:br/>
            <a:r>
              <a:t>🔹 Finding alternate paths</a:t>
            </a:r>
            <a:br/>
            <a:r>
              <a:t>🔹 Analyzing large graphs efficiently</a:t>
            </a:r>
            <a:br/>
            <a:r>
              <a:t>🔹 Understanding network vulnerability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4800600"/>
            <a:ext cx="6675120" cy="82296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4800600"/>
            <a:ext cx="64008" cy="822960"/>
          </a:xfrm>
          <a:prstGeom prst="rect">
            <a:avLst/>
          </a:prstGeom>
          <a:solidFill>
            <a:srgbClr val="39B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4910328"/>
            <a:ext cx="63276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CHALLENGE STATEMENT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285232"/>
            <a:ext cx="6309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How can we automatically identify network components whose failure may affect connectivity?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64008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BFF"/>
                </a:solidFill>
                <a:latin typeface="Aptos Display"/>
              </a:defRPr>
            </a:pPr>
            <a:r>
              <a:t>OUR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7ABC2"/>
                </a:solidFill>
                <a:latin typeface="Aptos"/>
              </a:defRPr>
            </a:pPr>
            <a:r>
              <a:t>What makes the solution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7ABC2"/>
                </a:solidFill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3657600" cy="150876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64008" cy="1508760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89888"/>
            <a:ext cx="33101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BFF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3291840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AE7F5"/>
                </a:solidFill>
                <a:latin typeface="Aptos"/>
              </a:defRPr>
            </a:pPr>
            <a:r>
              <a:t>Convert a real-world network into a graph and automatically analyze its biconnectivity.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3657600" cy="150876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017520"/>
            <a:ext cx="64008" cy="150876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127248"/>
            <a:ext cx="33101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BFF"/>
                </a:solidFill>
                <a:latin typeface="Aptos"/>
              </a:defRPr>
            </a:pPr>
            <a:r>
              <a:t>UNIQUE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02152"/>
            <a:ext cx="3291840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AE7F5"/>
                </a:solidFill>
                <a:latin typeface="Aptos"/>
              </a:defRPr>
            </a:pPr>
            <a:r>
              <a:t>Instead of only checking connectivity, identify how resilient the network is to single-node failures.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54880"/>
            <a:ext cx="3657600" cy="96012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4754880"/>
            <a:ext cx="64008" cy="960120"/>
          </a:xfrm>
          <a:prstGeom prst="rect">
            <a:avLst/>
          </a:prstGeom>
          <a:solidFill>
            <a:srgbClr val="F5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864608"/>
            <a:ext cx="33101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39512"/>
            <a:ext cx="3291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From “Is it connected?” → “Where can it break?”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325880"/>
            <a:ext cx="2788920" cy="10972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09160" y="1325880"/>
            <a:ext cx="64008" cy="1097280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1435607"/>
            <a:ext cx="24414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810512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AE7F5"/>
                </a:solidFill>
                <a:latin typeface="Aptos"/>
              </a:defRPr>
            </a:pPr>
            <a:r>
              <a:t>Articulation Point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1325880"/>
            <a:ext cx="2788920" cy="10972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0" y="1325880"/>
            <a:ext cx="64008" cy="109728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435607"/>
            <a:ext cx="24414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1810512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AE7F5"/>
                </a:solidFill>
                <a:latin typeface="Aptos"/>
              </a:defRPr>
            </a:pPr>
            <a:r>
              <a:t>Biconnected Component Identification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2743200"/>
            <a:ext cx="2788920" cy="10972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709160" y="2743200"/>
            <a:ext cx="64008" cy="1097280"/>
          </a:xfrm>
          <a:prstGeom prst="rect">
            <a:avLst/>
          </a:prstGeom>
          <a:solidFill>
            <a:srgbClr val="39B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2852928"/>
            <a:ext cx="24414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227832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AE7F5"/>
                </a:solidFill>
                <a:latin typeface="Aptos"/>
              </a:defRPr>
            </a:pPr>
            <a:r>
              <a:t>Network Graph Visualization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2743200"/>
            <a:ext cx="2788920" cy="10972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0" y="2743200"/>
            <a:ext cx="64008" cy="1097280"/>
          </a:xfrm>
          <a:prstGeom prst="rect">
            <a:avLst/>
          </a:prstGeom>
          <a:solidFill>
            <a:srgbClr val="F5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55279" y="2852928"/>
            <a:ext cx="24414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227832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AE7F5"/>
                </a:solidFill>
                <a:latin typeface="Aptos"/>
              </a:defRPr>
            </a:pPr>
            <a:r>
              <a:t>Fast Graph Analysis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09160" y="4160520"/>
            <a:ext cx="2788920" cy="10972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09160" y="4160520"/>
            <a:ext cx="64008" cy="1097280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92040" y="4270248"/>
            <a:ext cx="24414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4645152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AE7F5"/>
                </a:solidFill>
                <a:latin typeface="Aptos"/>
              </a:defRPr>
            </a:pPr>
            <a:r>
              <a:t>Network Vulnerability Insights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4160520"/>
            <a:ext cx="2788920" cy="10972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72400" y="4160520"/>
            <a:ext cx="64008" cy="109728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55279" y="4270248"/>
            <a:ext cx="24414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4645152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AE7F5"/>
                </a:solidFill>
                <a:latin typeface="Aptos"/>
              </a:defRPr>
            </a:pPr>
            <a:r>
              <a:t>Failure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64008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BFF"/>
                </a:solidFill>
                <a:latin typeface="Aptos Display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7ABC2"/>
                </a:solidFill>
                <a:latin typeface="Aptos"/>
              </a:defRPr>
            </a:pPr>
            <a:r>
              <a:t>System workflow and user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7ABC2"/>
                </a:solidFill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536192" cy="914400"/>
          </a:xfrm>
          <a:prstGeom prst="roundRect">
            <a:avLst/>
          </a:prstGeom>
          <a:solidFill>
            <a:srgbClr val="122237"/>
          </a:solidFill>
          <a:ln w="17780">
            <a:solidFill>
              <a:srgbClr val="2B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NETWORK</a:t>
            </a:r>
            <a:br/>
            <a:r>
              <a:t>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39112" y="1965960"/>
            <a:ext cx="402336" cy="0"/>
          </a:xfrm>
          <a:prstGeom prst="line">
            <a:avLst/>
          </a:prstGeom>
          <a:ln w="20320">
            <a:solidFill>
              <a:srgbClr val="97A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41448" y="1508760"/>
            <a:ext cx="1536192" cy="914400"/>
          </a:xfrm>
          <a:prstGeom prst="roundRect">
            <a:avLst/>
          </a:prstGeom>
          <a:solidFill>
            <a:srgbClr val="122237"/>
          </a:solidFill>
          <a:ln w="17780">
            <a:solidFill>
              <a:srgbClr val="2D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GRAPH</a:t>
            </a:r>
            <a:br/>
            <a:r>
              <a:t>CREATION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1965960"/>
            <a:ext cx="402337" cy="0"/>
          </a:xfrm>
          <a:prstGeom prst="line">
            <a:avLst/>
          </a:prstGeom>
          <a:ln w="20320">
            <a:solidFill>
              <a:srgbClr val="97A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79976" y="1508760"/>
            <a:ext cx="1536192" cy="914400"/>
          </a:xfrm>
          <a:prstGeom prst="roundRect">
            <a:avLst/>
          </a:prstGeom>
          <a:solidFill>
            <a:srgbClr val="122237"/>
          </a:solidFill>
          <a:ln w="17780">
            <a:solidFill>
              <a:srgbClr val="39B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DFS</a:t>
            </a:r>
            <a:br/>
            <a:r>
              <a:t>TRAVERSAL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168" y="1965960"/>
            <a:ext cx="402336" cy="0"/>
          </a:xfrm>
          <a:prstGeom prst="line">
            <a:avLst/>
          </a:prstGeom>
          <a:ln w="20320">
            <a:solidFill>
              <a:srgbClr val="97A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18504" y="1508760"/>
            <a:ext cx="1536192" cy="914400"/>
          </a:xfrm>
          <a:prstGeom prst="roundRect">
            <a:avLst/>
          </a:prstGeom>
          <a:solidFill>
            <a:srgbClr val="122237"/>
          </a:solidFill>
          <a:ln w="17780">
            <a:solidFill>
              <a:srgbClr val="F5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TARJAN'S</a:t>
            </a:r>
            <a:br/>
            <a:r>
              <a:t>ALGORITHM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54696" y="1965960"/>
            <a:ext cx="402336" cy="0"/>
          </a:xfrm>
          <a:prstGeom prst="line">
            <a:avLst/>
          </a:prstGeom>
          <a:ln w="20320">
            <a:solidFill>
              <a:srgbClr val="97A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57032" y="1508760"/>
            <a:ext cx="1536192" cy="914400"/>
          </a:xfrm>
          <a:prstGeom prst="roundRect">
            <a:avLst/>
          </a:prstGeom>
          <a:solidFill>
            <a:srgbClr val="122237"/>
          </a:solidFill>
          <a:ln w="17780">
            <a:solidFill>
              <a:srgbClr val="2B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ARTICULATION</a:t>
            </a:r>
            <a:br/>
            <a:r>
              <a:t>POINTS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93224" y="1965960"/>
            <a:ext cx="402336" cy="0"/>
          </a:xfrm>
          <a:prstGeom prst="line">
            <a:avLst/>
          </a:prstGeom>
          <a:ln w="20320">
            <a:solidFill>
              <a:srgbClr val="97A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95560" y="1508760"/>
            <a:ext cx="1536192" cy="914400"/>
          </a:xfrm>
          <a:prstGeom prst="roundRect">
            <a:avLst/>
          </a:prstGeom>
          <a:solidFill>
            <a:srgbClr val="122237"/>
          </a:solidFill>
          <a:ln w="17780">
            <a:solidFill>
              <a:srgbClr val="2D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BICONNECTED</a:t>
            </a:r>
            <a:br/>
            <a:r>
              <a:t>COMPONENTS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2788920"/>
            <a:ext cx="4206240" cy="777240"/>
          </a:xfrm>
          <a:prstGeom prst="roundRect">
            <a:avLst/>
          </a:prstGeom>
          <a:solidFill>
            <a:srgbClr val="122237"/>
          </a:solidFill>
          <a:ln w="17780">
            <a:solidFill>
              <a:srgbClr val="39B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NETWORK ANALYSIS → VISUAL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39"/>
            <a:ext cx="2057400" cy="13258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977639"/>
            <a:ext cx="64008" cy="1325880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087368"/>
            <a:ext cx="1709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1.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62272"/>
            <a:ext cx="16916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Enter nodes and connections.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3977639"/>
            <a:ext cx="2057400" cy="13258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971800" y="3977639"/>
            <a:ext cx="64008" cy="132588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54680" y="4087368"/>
            <a:ext cx="1709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2. 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462272"/>
            <a:ext cx="16916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Build the graph.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3977639"/>
            <a:ext cx="2057400" cy="13258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257800" y="3977639"/>
            <a:ext cx="64008" cy="1325880"/>
          </a:xfrm>
          <a:prstGeom prst="rect">
            <a:avLst/>
          </a:prstGeom>
          <a:solidFill>
            <a:srgbClr val="39B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40680" y="4087368"/>
            <a:ext cx="1709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3. ANALYZE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462272"/>
            <a:ext cx="16916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Run DFS + Tarjan.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3977639"/>
            <a:ext cx="2057400" cy="13258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43800" y="3977639"/>
            <a:ext cx="64008" cy="1325880"/>
          </a:xfrm>
          <a:prstGeom prst="rect">
            <a:avLst/>
          </a:prstGeom>
          <a:solidFill>
            <a:srgbClr val="F5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26679" y="4087368"/>
            <a:ext cx="1709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4. DETECT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462272"/>
            <a:ext cx="16916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Find critical structures.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29800" y="3977639"/>
            <a:ext cx="1691640" cy="13258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829800" y="3977639"/>
            <a:ext cx="64008" cy="1325880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12680" y="4087368"/>
            <a:ext cx="13441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5.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4462272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Show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64008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BFF"/>
                </a:solidFill>
                <a:latin typeface="Aptos Display"/>
              </a:defRPr>
            </a:pPr>
            <a:r>
              <a:t>TECHNOLOGY &amp;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7ABC2"/>
                </a:solidFill>
                <a:latin typeface="Aptos"/>
              </a:defRPr>
            </a:pPr>
            <a:r>
              <a:t>Tech stack, algorithm choice, and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7ABC2"/>
                </a:solidFill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657600" cy="749808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749808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33101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B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19072"/>
            <a:ext cx="32918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AE7F5"/>
                </a:solidFill>
                <a:latin typeface="Aptos"/>
              </a:defRPr>
            </a:pPr>
            <a:r>
              <a:t>Application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94560"/>
            <a:ext cx="3657600" cy="749808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194560"/>
            <a:ext cx="64008" cy="74980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304288"/>
            <a:ext cx="33101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BFF"/>
                </a:solidFill>
                <a:latin typeface="Aptos"/>
              </a:defRPr>
            </a:pPr>
            <a:r>
              <a:t>Graph / Adjacency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32918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AE7F5"/>
                </a:solidFill>
                <a:latin typeface="Aptos"/>
              </a:defRPr>
            </a:pPr>
            <a:r>
              <a:t>Network representation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3657600" cy="749808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64008" cy="749808"/>
          </a:xfrm>
          <a:prstGeom prst="rect">
            <a:avLst/>
          </a:prstGeom>
          <a:solidFill>
            <a:srgbClr val="39B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264408"/>
            <a:ext cx="33101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BFF"/>
                </a:solidFill>
                <a:latin typeface="Aptos"/>
              </a:defRPr>
            </a:pPr>
            <a:r>
              <a:t>NetworkX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39312"/>
            <a:ext cx="32918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AE7F5"/>
                </a:solidFill>
                <a:latin typeface="Aptos"/>
              </a:defRPr>
            </a:pPr>
            <a:r>
              <a:t>Graph 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14800"/>
            <a:ext cx="3657600" cy="749808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4114800"/>
            <a:ext cx="64008" cy="749808"/>
          </a:xfrm>
          <a:prstGeom prst="rect">
            <a:avLst/>
          </a:prstGeom>
          <a:solidFill>
            <a:srgbClr val="F5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224528"/>
            <a:ext cx="33101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BFF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99432"/>
            <a:ext cx="32918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AE7F5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074920"/>
            <a:ext cx="3657600" cy="749808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5074920"/>
            <a:ext cx="64008" cy="749808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184648"/>
            <a:ext cx="33101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BFF"/>
                </a:solidFill>
                <a:latin typeface="Aptos"/>
              </a:defRPr>
            </a:pPr>
            <a:r>
              <a:t>VS Code / Jupyter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559552"/>
            <a:ext cx="32918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AE7F5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1234440"/>
            <a:ext cx="2971800" cy="196596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63440" y="1234440"/>
            <a:ext cx="64008" cy="196596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0" y="1344168"/>
            <a:ext cx="26243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BFF"/>
                </a:solidFill>
                <a:latin typeface="Aptos"/>
              </a:defRPr>
            </a:pPr>
            <a:r>
              <a:t>MAIN ALGORITHM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1719072"/>
            <a:ext cx="2606040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AE7F5"/>
                </a:solidFill>
                <a:latin typeface="Aptos"/>
              </a:defRPr>
            </a:pPr>
            <a:r>
              <a:t>Tarjan's Algorithm + DFS</a:t>
            </a:r>
            <a:br/>
            <a:br/>
            <a:r>
              <a:t>Identifies articulation points, biconnected components, and connectivity structure.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1234440"/>
            <a:ext cx="3200400" cy="196596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55279" y="1234440"/>
            <a:ext cx="64008" cy="1965960"/>
          </a:xfrm>
          <a:prstGeom prst="rect">
            <a:avLst/>
          </a:prstGeom>
          <a:solidFill>
            <a:srgbClr val="39B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59" y="1344168"/>
            <a:ext cx="2852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BFF"/>
                </a:solidFill>
                <a:latin typeface="Aptos"/>
              </a:defRPr>
            </a:pPr>
            <a:r>
              <a:t>WHY T﻿ARJAN'S?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59" y="1719072"/>
            <a:ext cx="2834640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AE7F5"/>
                </a:solidFill>
                <a:latin typeface="Aptos"/>
              </a:defRPr>
            </a:pPr>
            <a:r>
              <a:t>• Efficient traversal</a:t>
            </a:r>
            <a:br/>
            <a:r>
              <a:t>• Works well for large graphs</a:t>
            </a:r>
            <a:br/>
            <a:r>
              <a:t>• Linear-time analysis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3566160"/>
            <a:ext cx="6492240" cy="137160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63440" y="3566160"/>
            <a:ext cx="64008" cy="1371600"/>
          </a:xfrm>
          <a:prstGeom prst="rect">
            <a:avLst/>
          </a:prstGeom>
          <a:solidFill>
            <a:srgbClr val="F5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46320" y="3675887"/>
            <a:ext cx="61447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BFF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050791"/>
            <a:ext cx="61264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AE7F5"/>
                </a:solidFill>
                <a:latin typeface="Aptos"/>
              </a:defRPr>
            </a:pPr>
            <a:r>
              <a:t>Time: O(V + E)</a:t>
            </a:r>
            <a:br/>
            <a:r>
              <a:t>Space: O(V)</a:t>
            </a:r>
            <a:br/>
            <a:br/>
            <a:r>
              <a:t>V = vertices/nodes  |  E = edges/connections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5212080"/>
            <a:ext cx="6492240" cy="64008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663440" y="5212080"/>
            <a:ext cx="64008" cy="640080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0" y="5321808"/>
            <a:ext cx="61447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BFF"/>
                </a:solidFill>
                <a:latin typeface="Aptos"/>
              </a:defRPr>
            </a:pPr>
            <a:r>
              <a:t>ALGORITHM 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5696712"/>
            <a:ext cx="6126479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AE7F5"/>
                </a:solidFill>
                <a:latin typeface="Aptos"/>
              </a:defRPr>
            </a:pPr>
            <a:r>
              <a:t>DFS → Discovery Time → Low Value → Articulation/Component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64008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BFF"/>
                </a:solidFill>
                <a:latin typeface="Aptos Display"/>
              </a:defRPr>
            </a:pPr>
            <a:r>
              <a:t>DEMO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7ABC2"/>
                </a:solidFill>
                <a:latin typeface="Aptos"/>
              </a:defRPr>
            </a:pPr>
            <a:r>
              <a:t>Sample network, processing, output, and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7ABC2"/>
                </a:solidFill>
              </a:defRPr>
            </a:pPr>
            <a:r>
              <a:t>06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315200" y="1097280"/>
            <a:ext cx="1097280" cy="502920"/>
          </a:xfrm>
          <a:prstGeom prst="line">
            <a:avLst/>
          </a:prstGeom>
          <a:ln w="254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12480" y="1097280"/>
            <a:ext cx="0" cy="1005840"/>
          </a:xfrm>
          <a:prstGeom prst="line">
            <a:avLst/>
          </a:prstGeom>
          <a:ln w="254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7315200" y="1600200"/>
            <a:ext cx="1097280" cy="502920"/>
          </a:xfrm>
          <a:prstGeom prst="line">
            <a:avLst/>
          </a:prstGeom>
          <a:ln w="254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12480" y="2103120"/>
            <a:ext cx="1371600" cy="0"/>
          </a:xfrm>
          <a:prstGeom prst="line">
            <a:avLst/>
          </a:prstGeom>
          <a:ln w="254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784080" y="2103120"/>
            <a:ext cx="731520" cy="960120"/>
          </a:xfrm>
          <a:prstGeom prst="line">
            <a:avLst/>
          </a:prstGeom>
          <a:ln w="254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326880" y="3063240"/>
            <a:ext cx="1188720" cy="274320"/>
          </a:xfrm>
          <a:prstGeom prst="line">
            <a:avLst/>
          </a:prstGeom>
          <a:ln w="254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326880" y="2103120"/>
            <a:ext cx="457200" cy="1234440"/>
          </a:xfrm>
          <a:prstGeom prst="line">
            <a:avLst/>
          </a:prstGeom>
          <a:ln w="254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086600" y="1371600"/>
            <a:ext cx="457200" cy="457200"/>
          </a:xfrm>
          <a:prstGeom prst="ellipse">
            <a:avLst/>
          </a:prstGeom>
          <a:solidFill>
            <a:srgbClr val="2B7EDA"/>
          </a:solidFill>
          <a:ln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8183879" y="868680"/>
            <a:ext cx="457200" cy="457200"/>
          </a:xfrm>
          <a:prstGeom prst="ellipse">
            <a:avLst/>
          </a:prstGeom>
          <a:solidFill>
            <a:srgbClr val="2B7EDA"/>
          </a:solidFill>
          <a:ln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1874519"/>
            <a:ext cx="457200" cy="457200"/>
          </a:xfrm>
          <a:prstGeom prst="ellipse">
            <a:avLst/>
          </a:prstGeom>
          <a:solidFill>
            <a:srgbClr val="F5A64A"/>
          </a:solidFill>
          <a:ln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9555480" y="1874519"/>
            <a:ext cx="457200" cy="457200"/>
          </a:xfrm>
          <a:prstGeom prst="ellipse">
            <a:avLst/>
          </a:prstGeom>
          <a:solidFill>
            <a:srgbClr val="2B7EDA"/>
          </a:solidFill>
          <a:ln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8" name="Oval 17"/>
          <p:cNvSpPr/>
          <p:nvPr/>
        </p:nvSpPr>
        <p:spPr>
          <a:xfrm>
            <a:off x="10287000" y="2834640"/>
            <a:ext cx="457200" cy="457200"/>
          </a:xfrm>
          <a:prstGeom prst="ellipse">
            <a:avLst/>
          </a:prstGeom>
          <a:solidFill>
            <a:srgbClr val="2B7EDA"/>
          </a:solidFill>
          <a:ln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9" name="Oval 18"/>
          <p:cNvSpPr/>
          <p:nvPr/>
        </p:nvSpPr>
        <p:spPr>
          <a:xfrm>
            <a:off x="9098280" y="3108960"/>
            <a:ext cx="457200" cy="457200"/>
          </a:xfrm>
          <a:prstGeom prst="ellipse">
            <a:avLst/>
          </a:prstGeom>
          <a:solidFill>
            <a:srgbClr val="2B7EDA"/>
          </a:solidFill>
          <a:ln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1234440"/>
            <a:ext cx="5166360" cy="100584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1234440"/>
            <a:ext cx="64008" cy="1005840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1344168"/>
            <a:ext cx="481888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BFF"/>
                </a:solidFill>
                <a:latin typeface="Aptos"/>
              </a:defRPr>
            </a:pPr>
            <a:r>
              <a:t>SAMPLE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1719072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Nodes A–F with multiple paths and two biconnected blocks joined at 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468880"/>
            <a:ext cx="5166360" cy="123444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2468880"/>
            <a:ext cx="64008" cy="123444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2578608"/>
            <a:ext cx="481888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BFF"/>
                </a:solidFill>
                <a:latin typeface="Aptos"/>
              </a:defRPr>
            </a:pPr>
            <a:r>
              <a:t>DEMO PROCESS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2953512"/>
            <a:ext cx="48006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Input: nodes + connections</a:t>
            </a:r>
            <a:br/>
            <a:r>
              <a:t>Processing: DFS → Discovery Time → Low Value → Tarjan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31920"/>
            <a:ext cx="5166360" cy="128016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3931920"/>
            <a:ext cx="64008" cy="1280160"/>
          </a:xfrm>
          <a:prstGeom prst="rect">
            <a:avLst/>
          </a:prstGeom>
          <a:solidFill>
            <a:srgbClr val="39B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4041648"/>
            <a:ext cx="481888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B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416552"/>
            <a:ext cx="4800600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• Critical/articulation points</a:t>
            </a:r>
            <a:br/>
            <a:r>
              <a:t>• Biconnected components</a:t>
            </a:r>
            <a:br/>
            <a:r>
              <a:t>• Network structure visualization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434840"/>
            <a:ext cx="4617720" cy="105156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4434840"/>
            <a:ext cx="64008" cy="1051560"/>
          </a:xfrm>
          <a:prstGeom prst="rect">
            <a:avLst/>
          </a:prstGeom>
          <a:solidFill>
            <a:srgbClr val="F5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4544568"/>
            <a:ext cx="42702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BFF"/>
                </a:solidFill>
                <a:latin typeface="Aptos"/>
              </a:defRPr>
            </a:pPr>
            <a:r>
              <a:t>PRACTICAL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919472"/>
            <a:ext cx="425195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Helps identify vulnerable components, supports fault-tolerant design, and reduces manual graph analysis.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5623560"/>
            <a:ext cx="4617720" cy="50292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92240" y="5623560"/>
            <a:ext cx="64008" cy="502920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75120" y="5733288"/>
            <a:ext cx="42702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B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6108192"/>
            <a:ext cx="42519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AE7F5"/>
                </a:solidFill>
                <a:latin typeface="Aptos"/>
              </a:defRPr>
            </a:pPr>
            <a:r>
              <a:t>Computer Networks • Communication • Transportation • Power Grids • Distributed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64008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BFF"/>
                </a:solidFill>
                <a:latin typeface="Aptos Display"/>
              </a:defRPr>
            </a:pPr>
            <a:r>
              <a:t>FUTURE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7ABC2"/>
                </a:solidFill>
                <a:latin typeface="Aptos"/>
              </a:defRPr>
            </a:pPr>
            <a:r>
              <a:t>Current achievement and next-generation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7ABC2"/>
                </a:solidFill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383280" cy="205740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2057400"/>
          </a:xfrm>
          <a:prstGeom prst="rect">
            <a:avLst/>
          </a:prstGeom>
          <a:solidFill>
            <a:srgbClr val="2B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30358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BFF"/>
                </a:solidFill>
                <a:latin typeface="Aptos"/>
              </a:defRPr>
            </a:pPr>
            <a:r>
              <a:t>CURRENT ACHIEVEMENT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19072"/>
            <a:ext cx="301752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AE7F5"/>
                </a:solidFill>
                <a:latin typeface="Aptos"/>
              </a:defRPr>
            </a:pPr>
            <a:r>
              <a:t>✔ Graph-based network modeling</a:t>
            </a:r>
            <a:br/>
            <a:r>
              <a:t>✔ DFS-based analysis</a:t>
            </a:r>
            <a:br/>
            <a:r>
              <a:t>✔ Articulation point detection</a:t>
            </a:r>
            <a:br/>
            <a:r>
              <a:t>✔ Biconnected component analysis</a:t>
            </a:r>
            <a:br/>
            <a:r>
              <a:t>✔ Network visualization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66160"/>
            <a:ext cx="3383280" cy="214884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64008" cy="2148840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675887"/>
            <a:ext cx="30358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BFF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50791"/>
            <a:ext cx="301752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AE7F5"/>
                </a:solidFill>
                <a:latin typeface="Aptos"/>
              </a:defRPr>
            </a:pPr>
            <a:r>
              <a:t>🚀 Real-Time Monitoring</a:t>
            </a:r>
            <a:br/>
            <a:r>
              <a:t>🤖 AI-Based Risk Prediction</a:t>
            </a:r>
            <a:br/>
            <a:r>
              <a:t>📊 Interactive Dashboard</a:t>
            </a:r>
            <a:br/>
            <a:r>
              <a:t>🌐 Cloud Scalability</a:t>
            </a:r>
            <a:br/>
            <a:r>
              <a:t>🔔 Failure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234440"/>
            <a:ext cx="3246120" cy="448056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234440"/>
            <a:ext cx="64008" cy="4480560"/>
          </a:xfrm>
          <a:prstGeom prst="rect">
            <a:avLst/>
          </a:prstGeom>
          <a:solidFill>
            <a:srgbClr val="39B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1344168"/>
            <a:ext cx="28986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BFF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719072"/>
            <a:ext cx="288036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AE7F5"/>
                </a:solidFill>
                <a:latin typeface="Aptos"/>
              </a:defRPr>
            </a:pPr>
            <a:r>
              <a:t>Analyze very large real-world networks using scalable processing and richer network data.</a:t>
            </a:r>
            <a:br/>
            <a:br/>
            <a:r>
              <a:t>Future versions can support live changes, failure simulation, intelligent risk insights, and automated reporting.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234440"/>
            <a:ext cx="3291840" cy="4480560"/>
          </a:xfrm>
          <a:prstGeom prst="roundRect">
            <a:avLst/>
          </a:prstGeom>
          <a:solidFill>
            <a:srgbClr val="122237"/>
          </a:solidFill>
          <a:ln w="12700">
            <a:solidFill>
              <a:srgbClr val="2E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55279" y="1234440"/>
            <a:ext cx="64008" cy="4480560"/>
          </a:xfrm>
          <a:prstGeom prst="rect">
            <a:avLst/>
          </a:prstGeom>
          <a:solidFill>
            <a:srgbClr val="F5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59" y="1344168"/>
            <a:ext cx="29443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BFF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1719072"/>
            <a:ext cx="292608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AE7F5"/>
                </a:solidFill>
                <a:latin typeface="Aptos"/>
              </a:defRPr>
            </a:pPr>
            <a:r>
              <a:t>Biconnected Network Analyzer helps transform graph connectivity data into practical network reliability insights.</a:t>
            </a:r>
            <a:br/>
            <a:br/>
            <a:r>
              <a:t>THANK YOU</a:t>
            </a:r>
            <a:br/>
            <a:br/>
            <a:r>
              <a:t>Questions &amp; Answers?</a:t>
            </a:r>
            <a:br/>
            <a:br/>
            <a:r>
              <a:t>M. Yaswanth</a:t>
            </a:r>
            <a:br/>
            <a:r>
              <a:t>CSE – Artificial Intelligence &amp; Machine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A4B57-CD62-78D8-4EA7-21A10AAB7E18}"/>
              </a:ext>
            </a:extLst>
          </p:cNvPr>
          <p:cNvSpPr txBox="1"/>
          <p:nvPr/>
        </p:nvSpPr>
        <p:spPr>
          <a:xfrm>
            <a:off x="3582955" y="3023118"/>
            <a:ext cx="515134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36443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686</Words>
  <Application>Microsoft Office PowerPoint</Application>
  <PresentationFormat>Widescreen</PresentationFormat>
  <Paragraphs>125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BICONNECTED NETWORK ANALYZER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CHENNA KESHAVU</dc:creator>
  <cp:keywords/>
  <dc:description>generated using python-pptx</dc:description>
  <cp:lastModifiedBy>Varun Kavati</cp:lastModifiedBy>
  <cp:revision>3</cp:revision>
  <dcterms:created xsi:type="dcterms:W3CDTF">2013-01-27T09:14:16Z</dcterms:created>
  <dcterms:modified xsi:type="dcterms:W3CDTF">2026-10-03T09:08:08Z</dcterms:modified>
  <cp:category/>
</cp:coreProperties>
</file>